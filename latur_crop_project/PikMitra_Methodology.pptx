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crops in Latur · Ausa (score / 100)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Suitability %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Sheet1!$A$2:$A$8</c:f>
              <c:strCache>
                <c:ptCount val="7"/>
                <c:pt idx="0">
                  <c:v>Tur</c:v>
                </c:pt>
                <c:pt idx="1">
                  <c:v>Soybean</c:v>
                </c:pt>
                <c:pt idx="2">
                  <c:v>Cotton</c:v>
                </c:pt>
                <c:pt idx="3">
                  <c:v>Maize</c:v>
                </c:pt>
                <c:pt idx="4">
                  <c:v>Jowar</c:v>
                </c:pt>
                <c:pt idx="5">
                  <c:v>Mango</c:v>
                </c:pt>
                <c:pt idx="6">
                  <c:v>Rice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</c:v>
                </c:pt>
                <c:pt idx="1">
                  <c:v>96</c:v>
                </c:pt>
                <c:pt idx="2">
                  <c:v>96</c:v>
                </c:pt>
                <c:pt idx="3">
                  <c:v>96</c:v>
                </c:pt>
                <c:pt idx="4">
                  <c:v>95</c:v>
                </c:pt>
                <c:pt idx="5">
                  <c:v>88</c:v>
                </c:pt>
                <c:pt idx="6">
                  <c:v>82</c:v>
                </c:pt>
              </c:numCache>
            </c:numRef>
          </c:val>
        </c:ser>
        <c:dLbls>
          <c:numFmt formatCode="0#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Crops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D9E4CF"/>
              </a:solidFill>
            </c:spPr>
          </c:dPt>
          <c:cat>
            <c:strRef>
              <c:f>Sheet1!$A$2:$A$3</c:f>
              <c:strCache>
                <c:ptCount val="2"/>
                <c:pt idx="0">
                  <c:v>Suitable (top 20)</c:v>
                </c:pt>
                <c:pt idx="1">
                  <c:v>Below threshold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9440" y="731520"/>
            <a:ext cx="48006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k_mitra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88248"/>
            <a:ext cx="4526280" cy="21499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9144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AI-POWERED CROP ADVISORY FOR MAHARASHTRA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209"/>
              </a:lnSpc>
              <a:spcAft>
                <a:spcPts val="200"/>
              </a:spcAft>
            </a:pPr>
            <a:r>
              <a:rPr sz="5400" b="1" i="0">
                <a:solidFill>
                  <a:srgbClr val="1B5E20"/>
                </a:solidFill>
                <a:latin typeface="Calibri"/>
              </a:rPr>
              <a:t>पीक मित्र</a:t>
            </a:r>
          </a:p>
          <a:p>
            <a:pPr algn="l">
              <a:lnSpc>
                <a:spcPts val="2300"/>
              </a:lnSpc>
              <a:spcAft>
                <a:spcPts val="200"/>
              </a:spcAft>
            </a:pPr>
            <a:r>
              <a:rPr sz="2000" b="1" i="0">
                <a:solidFill>
                  <a:srgbClr val="5B635B"/>
                </a:solidFill>
                <a:latin typeface="Calibri"/>
              </a:rPr>
              <a:t>Crop Mitra — Smart Crop Recommendation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17520"/>
            <a:ext cx="1188720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  <a:spcAft>
                <a:spcPts val="200"/>
              </a:spcAft>
            </a:pPr>
            <a:r>
              <a:rPr sz="1450" b="0" i="0">
                <a:solidFill>
                  <a:srgbClr val="1B1F1B"/>
                </a:solidFill>
                <a:latin typeface="Calibri"/>
              </a:rPr>
              <a:t>A mobile-first web app that scores crops (0–100) for real soil, rainfall and temperature data from each tehsil — and tells the farmer what to grow, and what not to grow.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8172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90"/>
              </a:lnSpc>
              <a:spcAft>
                <a:spcPts val="200"/>
              </a:spcAft>
            </a:pPr>
            <a:r>
              <a:rPr sz="2600" b="1" i="0">
                <a:solidFill>
                  <a:srgbClr val="2E7D32"/>
                </a:solidFill>
                <a:latin typeface="Calibri"/>
              </a:rPr>
              <a:t>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2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Crops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45262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468172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90"/>
              </a:lnSpc>
              <a:spcAft>
                <a:spcPts val="200"/>
              </a:spcAft>
            </a:pPr>
            <a:r>
              <a:rPr sz="2600" b="1" i="0">
                <a:solidFill>
                  <a:srgbClr val="2E7D32"/>
                </a:solidFill>
                <a:latin typeface="Calibri"/>
              </a:rPr>
              <a:t>362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51663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2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Regions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5262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68172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90"/>
              </a:lnSpc>
              <a:spcAft>
                <a:spcPts val="200"/>
              </a:spcAft>
            </a:pPr>
            <a:r>
              <a:rPr sz="2600" b="1" i="0">
                <a:solidFill>
                  <a:srgbClr val="2E7D32"/>
                </a:solidFill>
                <a:latin typeface="Calibri"/>
              </a:rPr>
              <a:t>19,548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51663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2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Scores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5806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704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1" i="0">
                <a:solidFill>
                  <a:srgbClr val="5B635B"/>
                </a:solidFill>
                <a:latin typeface="Calibri"/>
              </a:rPr>
              <a:t>🌾 Soybean    🌿 Cotton    🥭 Mango    🌽 Maize    🍚 Rice    🌾 Jowar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01168"/>
            <a:ext cx="548640" cy="548640"/>
          </a:xfrm>
          <a:prstGeom prst="ellipse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</a:pPr>
            <a:r>
              <a:rPr sz="2200" b="1" i="0">
                <a:solidFill>
                  <a:srgbClr val="1B5E2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0" i="0">
                <a:solidFill>
                  <a:srgbClr val="A7E089"/>
                </a:solidFill>
                <a:latin typeface="Calibri"/>
              </a:rPr>
              <a:t>What this project set out to achieve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पीक मित्र  |  Crop Mitra  |  AI Crop Advisory — Maharashtra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7160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62763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190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49961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Expand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490472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Add 14 new crops (fruits &amp; vegetables) with ideal pH / rainfall / temperature / months / yield / cost ranges.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414015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2670048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6148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54203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Verified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32887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Real Wikimedia Commons photos for every crop — all 55 filenames validated to exist.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45643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3712463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0390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584447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Smart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75303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Rank every crop per tehsil on 0–100, applying Suitability = score ≥ 60 AND rank ≤ 20.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98847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4754879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4631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626863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Polished Mobile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617719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Responsive React + Vite UI: dashboard, crop-facts page, location picker, price info.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541263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" y="5797295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88873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66927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Baseline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660135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Keep existing model rankings intact while integrating new crops without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01168"/>
            <a:ext cx="548640" cy="548640"/>
          </a:xfrm>
          <a:prstGeom prst="ellipse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</a:pPr>
            <a:r>
              <a:rPr sz="2200" b="1" i="0">
                <a:solidFill>
                  <a:srgbClr val="1B5E2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Tools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0" i="0">
                <a:solidFill>
                  <a:srgbClr val="A7E089"/>
                </a:solidFill>
                <a:latin typeface="Calibri"/>
              </a:rPr>
              <a:t>Lightweight, modern and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पीक मित्र  |  Crop Mitra  |  AI Crop Advisory — Maharashtra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830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  <a:spcAft>
                <a:spcPts val="200"/>
              </a:spcAft>
            </a:pPr>
            <a:r>
              <a:rPr sz="1700" b="1" i="0">
                <a:solidFill>
                  <a:srgbClr val="1B5E20"/>
                </a:solidFill>
                <a:latin typeface="Calibri"/>
              </a:rPr>
              <a:t>🐍  Python 3.10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2316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Data pipeline — config, DB init,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54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7830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  <a:spcAft>
                <a:spcPts val="200"/>
              </a:spcAft>
            </a:pPr>
            <a:r>
              <a:rPr sz="1700" b="1" i="0">
                <a:solidFill>
                  <a:srgbClr val="1B5E20"/>
                </a:solidFill>
                <a:latin typeface="Calibri"/>
              </a:rPr>
              <a:t>🗄️  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42316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362 regions · 54 crops · 52,608 weather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  <a:spcAft>
                <a:spcPts val="200"/>
              </a:spcAft>
            </a:pPr>
            <a:r>
              <a:rPr sz="1700" b="1" i="0">
                <a:solidFill>
                  <a:srgbClr val="1B5E20"/>
                </a:solidFill>
                <a:latin typeface="Calibri"/>
              </a:rPr>
              <a:t>⚛️  React +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Frontend — 1,878 modules, HMR, LAN-ready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033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31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  <a:spcAft>
                <a:spcPts val="200"/>
              </a:spcAft>
            </a:pPr>
            <a:r>
              <a:rPr sz="1700" b="1" i="0">
                <a:solidFill>
                  <a:srgbClr val="1B5E20"/>
                </a:solidFill>
                <a:latin typeface="Calibri"/>
              </a:rPr>
              <a:t>🎨  CSS3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Clean green theme (#1B5E20 / #A7E089)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931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  <a:spcAft>
                <a:spcPts val="200"/>
              </a:spcAft>
            </a:pPr>
            <a:r>
              <a:rPr sz="1700" b="1" i="0">
                <a:solidFill>
                  <a:srgbClr val="1B5E20"/>
                </a:solidFill>
                <a:latin typeface="Calibri"/>
              </a:rPr>
              <a:t>🌐  Cloudflare Tunnel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5720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Public HTTPS share link via quick tunnel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033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  <a:spcAft>
                <a:spcPts val="200"/>
              </a:spcAft>
            </a:pPr>
            <a:r>
              <a:rPr sz="1700" b="1" i="0">
                <a:solidFill>
                  <a:srgbClr val="1B5E20"/>
                </a:solidFill>
                <a:latin typeface="Calibri"/>
              </a:rPr>
              <a:t>🖥️  PowerShell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5720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Script orchestration on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01168"/>
            <a:ext cx="548640" cy="548640"/>
          </a:xfrm>
          <a:prstGeom prst="ellipse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</a:pPr>
            <a:r>
              <a:rPr sz="2200" b="1" i="0">
                <a:solidFill>
                  <a:srgbClr val="1B5E20"/>
                </a:solidFill>
                <a:latin typeface="Calibri"/>
              </a:rPr>
              <a:t>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Methodology — Flow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0" i="0">
                <a:solidFill>
                  <a:srgbClr val="A7E089"/>
                </a:solidFill>
                <a:latin typeface="Calibri"/>
              </a:rPr>
              <a:t>How a recommendation is 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पीक मित्र  |  Crop Mitra  |  AI Crop Advisory — Maharashtra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4a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74519"/>
            <a:ext cx="2084831" cy="265176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9616" y="214884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9616" y="23774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6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9019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  <a:spcAft>
                <a:spcPts val="200"/>
              </a:spcAft>
            </a:pPr>
            <a:r>
              <a:rPr sz="1350" b="1" i="0">
                <a:solidFill>
                  <a:srgbClr val="1B5E20"/>
                </a:solidFill>
                <a:latin typeface="Calibri"/>
              </a:rPr>
              <a:t>Select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3611880"/>
            <a:ext cx="18653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District + Tehsil
(e.g. Latur · Ausa)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3" y="283464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</a:pPr>
            <a:r>
              <a:rPr sz="2000" b="1" i="0">
                <a:solidFill>
                  <a:srgbClr val="E86A17"/>
                </a:solidFill>
                <a:latin typeface="Calibri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8104" y="1874519"/>
            <a:ext cx="2084831" cy="265176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39" y="214884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3774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6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3154680"/>
            <a:ext cx="19019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  <a:spcAft>
                <a:spcPts val="200"/>
              </a:spcAft>
            </a:pPr>
            <a:r>
              <a:rPr sz="1350" b="1" i="0">
                <a:solidFill>
                  <a:srgbClr val="1B5E20"/>
                </a:solidFill>
                <a:latin typeface="Calibri"/>
              </a:rPr>
              <a:t>Fetch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3611880"/>
            <a:ext cx="18653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Soil pH · Rainfall
Temperature · 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7" y="283464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</a:pPr>
            <a:r>
              <a:rPr sz="2000" b="1" i="0">
                <a:solidFill>
                  <a:srgbClr val="E86A17"/>
                </a:solidFill>
                <a:latin typeface="Calibri"/>
              </a:rP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67528" y="1874519"/>
            <a:ext cx="2084831" cy="265176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98464" y="214884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23774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6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3154680"/>
            <a:ext cx="19019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  <a:spcAft>
                <a:spcPts val="200"/>
              </a:spcAft>
            </a:pPr>
            <a:r>
              <a:rPr sz="1350" b="1" i="0">
                <a:solidFill>
                  <a:srgbClr val="1B5E20"/>
                </a:solidFill>
                <a:latin typeface="Calibri"/>
              </a:rPr>
              <a:t>Score Crops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3611880"/>
            <a:ext cx="18653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Weighted average
per crop (0–100)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283464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</a:pPr>
            <a:r>
              <a:rPr sz="2000" b="1" i="0">
                <a:solidFill>
                  <a:srgbClr val="E86A17"/>
                </a:solidFill>
                <a:latin typeface="Calibri"/>
              </a:rPr>
              <a:t>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16952" y="1874519"/>
            <a:ext cx="2084831" cy="265176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7888" y="214884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23774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6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8392" y="3154680"/>
            <a:ext cx="19019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  <a:spcAft>
                <a:spcPts val="200"/>
              </a:spcAft>
            </a:pPr>
            <a:r>
              <a:rPr sz="1350" b="1" i="0">
                <a:solidFill>
                  <a:srgbClr val="1B5E20"/>
                </a:solidFill>
                <a:latin typeface="Calibri"/>
              </a:rPr>
              <a:t>Rank &amp;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611880"/>
            <a:ext cx="18653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Sort by score
Suitable = score ≥60 · rank ≤20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2056" y="283464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</a:pPr>
            <a:r>
              <a:rPr sz="2000" b="1" i="0">
                <a:solidFill>
                  <a:srgbClr val="E86A17"/>
                </a:solidFill>
                <a:latin typeface="Calibri"/>
              </a:rPr>
              <a:t>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66376" y="1874519"/>
            <a:ext cx="2084831" cy="265176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97312" y="214884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97312" y="23774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6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7815" y="3154680"/>
            <a:ext cx="19019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52"/>
              </a:lnSpc>
              <a:spcAft>
                <a:spcPts val="200"/>
              </a:spcAft>
            </a:pPr>
            <a:r>
              <a:rPr sz="1350" b="1" i="0">
                <a:solidFill>
                  <a:srgbClr val="1B5E20"/>
                </a:solidFill>
                <a:latin typeface="Calibri"/>
              </a:rPr>
              <a:t>Show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76103" y="3611880"/>
            <a:ext cx="18653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Ranked list with
Suitable / Not Suitable tag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029200"/>
            <a:ext cx="10424160" cy="9144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5166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Make it simple: score = average of soil − rain − temperature fit, plus price awareness.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 i="0">
                <a:solidFill>
                  <a:srgbClr val="A7E089"/>
                </a:solidFill>
                <a:latin typeface="Calibri"/>
              </a:rPr>
              <a:t>Any crop failing score ≥ 60 OR rank ≤ 20 is flagged Not Suitable for that tehsil.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01168"/>
            <a:ext cx="548640" cy="548640"/>
          </a:xfrm>
          <a:prstGeom prst="ellipse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</a:pPr>
            <a:r>
              <a:rPr sz="2200" b="1" i="0">
                <a:solidFill>
                  <a:srgbClr val="1B5E20"/>
                </a:solidFill>
                <a:latin typeface="Calibri"/>
              </a:rPr>
              <a:t>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Methodology — Block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0" i="0">
                <a:solidFill>
                  <a:srgbClr val="A7E089"/>
                </a:solidFill>
                <a:latin typeface="Calibri"/>
              </a:rPr>
              <a:t>System architecture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पीक मित्र  |  Crop Mitra  |  AI Crop Advisory — Maharashtra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4b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737360"/>
            <a:ext cx="8229600" cy="96012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737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USER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810512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React · Vite · Bilingual (Marathi + English)
Dashboard · Catalog · Location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926080"/>
            <a:ext cx="8229600" cy="96012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2926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999232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SQLite  —  regions(362) · crops(54) · soil / weather / price tables
Python scripts generate cropsData.js · regionalScores.js · mandiPrices.js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4114800"/>
            <a:ext cx="8229600" cy="96012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4114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SCORING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187952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config.py CROPS ranges  +  weighted average scorer
Suitability = score ≥ 60 AND rank ≤ 20  →  tagged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5303520"/>
            <a:ext cx="8229600" cy="96012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53035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376672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  <a:spcAft>
                <a:spcPts val="200"/>
              </a:spcAft>
            </a:pPr>
            <a:r>
              <a:rPr sz="1050" b="0" i="0">
                <a:solidFill>
                  <a:srgbClr val="5B635B"/>
                </a:solidFill>
                <a:latin typeface="Calibri"/>
              </a:rPr>
              <a:t>Vite dev/prod build · LAN hosting · Cloudflare public tunnel
Works on phone and desktop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4688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</a:pPr>
            <a:r>
              <a:rPr sz="1800" b="1" i="0">
                <a:solidFill>
                  <a:srgbClr val="E86A17"/>
                </a:solidFill>
                <a:latin typeface="Calibri"/>
              </a:rPr>
              <a:t>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6576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</a:pPr>
            <a:r>
              <a:rPr sz="1800" b="1" i="0">
                <a:solidFill>
                  <a:srgbClr val="E86A17"/>
                </a:solidFill>
                <a:latin typeface="Calibri"/>
              </a:rPr>
              <a:t>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8463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</a:pPr>
            <a:r>
              <a:rPr sz="1800" b="1" i="0">
                <a:solidFill>
                  <a:srgbClr val="E86A17"/>
                </a:solidFill>
                <a:latin typeface="Calibri"/>
              </a:rPr>
              <a:t>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01168"/>
            <a:ext cx="548640" cy="548640"/>
          </a:xfrm>
          <a:prstGeom prst="ellipse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</a:pPr>
            <a:r>
              <a:rPr sz="2200" b="1" i="0">
                <a:solidFill>
                  <a:srgbClr val="1B5E2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0" i="0">
                <a:solidFill>
                  <a:srgbClr val="A7E089"/>
                </a:solidFill>
                <a:latin typeface="Calibri"/>
              </a:rPr>
              <a:t>What was actually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पीक मित्र  |  Crop Mitra  |  AI Crop Advisory — Maharashtra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325880"/>
          <a:ext cx="57607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0" y="1371600"/>
            <a:ext cx="4754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453896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1" i="0">
                <a:solidFill>
                  <a:srgbClr val="1B5E20"/>
                </a:solidFill>
                <a:latin typeface="Calibri"/>
              </a:rPr>
              <a:t>14 new crops — </a:t>
            </a:r>
          </a:p>
          <a:p>
            <a:pPr algn="l">
              <a:lnSpc>
                <a:spcPts val="1264"/>
              </a:lnSpc>
              <a:spcAft>
                <a:spcPts val="200"/>
              </a:spcAft>
            </a:pPr>
            <a:r>
              <a:rPr sz="1100" b="0" i="0">
                <a:solidFill>
                  <a:srgbClr val="5B635B"/>
                </a:solidFill>
                <a:latin typeface="Calibri"/>
              </a:rPr>
              <a:t>added with scientifically-derived ideal ranges.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194560"/>
            <a:ext cx="4754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76856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1" i="0">
                <a:solidFill>
                  <a:srgbClr val="1B5E20"/>
                </a:solidFill>
                <a:latin typeface="Calibri"/>
              </a:rPr>
              <a:t>55 images verified — </a:t>
            </a:r>
          </a:p>
          <a:p>
            <a:pPr algn="l">
              <a:lnSpc>
                <a:spcPts val="1264"/>
              </a:lnSpc>
              <a:spcAft>
                <a:spcPts val="200"/>
              </a:spcAft>
            </a:pPr>
            <a:r>
              <a:rPr sz="1100" b="0" i="0">
                <a:solidFill>
                  <a:srgbClr val="5B635B"/>
                </a:solidFill>
                <a:latin typeface="Calibri"/>
              </a:rPr>
              <a:t>on Wikimedia Commons — linseed fixed (Köhler −088).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017520"/>
            <a:ext cx="4754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3099815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1" i="0">
                <a:solidFill>
                  <a:srgbClr val="1B5E20"/>
                </a:solidFill>
                <a:latin typeface="Calibri"/>
              </a:rPr>
              <a:t>11,316 scored rows — </a:t>
            </a:r>
          </a:p>
          <a:p>
            <a:pPr algn="l">
              <a:lnSpc>
                <a:spcPts val="1264"/>
              </a:lnSpc>
              <a:spcAft>
                <a:spcPts val="200"/>
              </a:spcAft>
            </a:pPr>
            <a:r>
              <a:rPr sz="1100" b="0" i="0">
                <a:solidFill>
                  <a:srgbClr val="5B635B"/>
                </a:solidFill>
                <a:latin typeface="Calibri"/>
              </a:rPr>
              <a:t>from init_db + score_crops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840480"/>
            <a:ext cx="4754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922776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1" i="0">
                <a:solidFill>
                  <a:srgbClr val="1B5E20"/>
                </a:solidFill>
                <a:latin typeface="Calibri"/>
              </a:rPr>
              <a:t>Baseline preserved — </a:t>
            </a:r>
          </a:p>
          <a:p>
            <a:pPr algn="l">
              <a:lnSpc>
                <a:spcPts val="1264"/>
              </a:lnSpc>
              <a:spcAft>
                <a:spcPts val="200"/>
              </a:spcAft>
            </a:pPr>
            <a:r>
              <a:rPr sz="1100" b="0" i="0">
                <a:solidFill>
                  <a:srgbClr val="5B635B"/>
                </a:solidFill>
                <a:latin typeface="Calibri"/>
              </a:rPr>
              <a:t>mango 88 → Suitable · rice 82 → Not Suitable.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663440"/>
            <a:ext cx="4754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745736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1" i="0">
                <a:solidFill>
                  <a:srgbClr val="1B5E20"/>
                </a:solidFill>
                <a:latin typeface="Calibri"/>
              </a:rPr>
              <a:t>UI fixes — </a:t>
            </a:r>
          </a:p>
          <a:p>
            <a:pPr algn="l">
              <a:lnSpc>
                <a:spcPts val="1264"/>
              </a:lnSpc>
              <a:spcAft>
                <a:spcPts val="200"/>
              </a:spcAft>
            </a:pPr>
            <a:r>
              <a:rPr sz="1100" b="0" i="0">
                <a:solidFill>
                  <a:srgbClr val="5B635B"/>
                </a:solidFill>
                <a:latin typeface="Calibri"/>
              </a:rPr>
              <a:t>hero banner, catalog grid, dashboard image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486400"/>
            <a:ext cx="4754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5568696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1" i="0">
                <a:solidFill>
                  <a:srgbClr val="1B5E20"/>
                </a:solidFill>
                <a:latin typeface="Calibri"/>
              </a:rPr>
              <a:t>Build green — </a:t>
            </a:r>
          </a:p>
          <a:p>
            <a:pPr algn="l">
              <a:lnSpc>
                <a:spcPts val="1264"/>
              </a:lnSpc>
              <a:spcAft>
                <a:spcPts val="200"/>
              </a:spcAft>
            </a:pPr>
            <a:r>
              <a:rPr sz="1100" b="0" i="0">
                <a:solidFill>
                  <a:srgbClr val="5B635B"/>
                </a:solidFill>
                <a:latin typeface="Calibri"/>
              </a:rPr>
              <a:t>npm run build — 1,878 modules · LAN + phone ready.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92040"/>
            <a:ext cx="1737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an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09" y="4956048"/>
            <a:ext cx="1440180" cy="960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59436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7"/>
              </a:lnSpc>
              <a:spcAft>
                <a:spcPts val="200"/>
              </a:spcAft>
            </a:pPr>
            <a:r>
              <a:rPr sz="1050" b="1" i="0">
                <a:solidFill>
                  <a:srgbClr val="5B635B"/>
                </a:solidFill>
                <a:latin typeface="Calibri"/>
              </a:rPr>
              <a:t>Mango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4892040"/>
            <a:ext cx="1737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998027"/>
            <a:ext cx="1554480" cy="87616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51760" y="59436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7"/>
              </a:lnSpc>
              <a:spcAft>
                <a:spcPts val="200"/>
              </a:spcAft>
            </a:pPr>
            <a:r>
              <a:rPr sz="1050" b="1" i="0">
                <a:solidFill>
                  <a:srgbClr val="5B635B"/>
                </a:solidFill>
                <a:latin typeface="Calibri"/>
              </a:rPr>
              <a:t>Rice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4023360" y="4846320"/>
          <a:ext cx="2286000" cy="1554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01168"/>
            <a:ext cx="548640" cy="548640"/>
          </a:xfrm>
          <a:prstGeom prst="ellipse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</a:pPr>
            <a:r>
              <a:rPr sz="2200" b="1" i="0">
                <a:solidFill>
                  <a:srgbClr val="1B5E2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04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200" b="0" i="0">
                <a:solidFill>
                  <a:srgbClr val="A7E089"/>
                </a:solidFill>
                <a:latin typeface="Calibri"/>
              </a:rPr>
              <a:t>Where the project goes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पीक मित्र  |  Crop Mitra  |  AI Crop Advisory — Maharashtra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92"/>
              </a:lnSpc>
              <a:spcAft>
                <a:spcPts val="200"/>
              </a:spcAft>
            </a:pPr>
            <a:r>
              <a:rPr sz="950" b="0" i="0">
                <a:solidFill>
                  <a:srgbClr val="5B635B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64008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184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2"/>
              </a:lnSpc>
              <a:spcAft>
                <a:spcPts val="200"/>
              </a:spcAft>
            </a:pPr>
            <a:r>
              <a:rPr sz="1550" b="1" i="0">
                <a:solidFill>
                  <a:srgbClr val="1B5E20"/>
                </a:solidFill>
                <a:latin typeface="Calibri"/>
              </a:rPr>
              <a:t>🌦️  Live Weather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2926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Wire real-time rainfall &amp; forecast APIs into the scoring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64008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6184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2"/>
              </a:lnSpc>
              <a:spcAft>
                <a:spcPts val="200"/>
              </a:spcAft>
            </a:pPr>
            <a:r>
              <a:rPr sz="1550" b="1" i="0">
                <a:solidFill>
                  <a:srgbClr val="1B5E20"/>
                </a:solidFill>
                <a:latin typeface="Calibri"/>
              </a:rPr>
              <a:t>📈  Market Prices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194560"/>
            <a:ext cx="2926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Live mandi price feeds for up-to-date profitability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64008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184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2"/>
              </a:lnSpc>
              <a:spcAft>
                <a:spcPts val="200"/>
              </a:spcAft>
            </a:pPr>
            <a:r>
              <a:rPr sz="1550" b="1" i="0">
                <a:solidFill>
                  <a:srgbClr val="1B5E20"/>
                </a:solidFill>
                <a:latin typeface="Calibri"/>
              </a:rPr>
              <a:t>🗣️  Voice + Languages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2926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Hindi / Kannada / Tamil plus Marathi voice input for elders.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576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657600"/>
            <a:ext cx="64008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8587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2"/>
              </a:lnSpc>
              <a:spcAft>
                <a:spcPts val="200"/>
              </a:spcAft>
            </a:pPr>
            <a:r>
              <a:rPr sz="1550" b="1" i="0">
                <a:solidFill>
                  <a:srgbClr val="1B5E20"/>
                </a:solidFill>
                <a:latin typeface="Calibri"/>
              </a:rPr>
              <a:t>🔄  Rotation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2926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Crop-rotation and soil-health suggestions per season.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6576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657600"/>
            <a:ext cx="64008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38587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2"/>
              </a:lnSpc>
              <a:spcAft>
                <a:spcPts val="200"/>
              </a:spcAft>
            </a:pPr>
            <a:r>
              <a:rPr sz="1550" b="1" i="0">
                <a:solidFill>
                  <a:srgbClr val="1B5E20"/>
                </a:solidFill>
                <a:latin typeface="Calibri"/>
              </a:rPr>
              <a:t>📴  Offline PWA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434840"/>
            <a:ext cx="2926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Progressive Web App that works with zero connectivity in the field.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6576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657600"/>
            <a:ext cx="64008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8587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2"/>
              </a:lnSpc>
              <a:spcAft>
                <a:spcPts val="200"/>
              </a:spcAft>
            </a:pPr>
            <a:r>
              <a:rPr sz="1550" b="1" i="0">
                <a:solidFill>
                  <a:srgbClr val="1B5E20"/>
                </a:solidFill>
                <a:latin typeface="Calibri"/>
              </a:rPr>
              <a:t>🌟  Premium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34840"/>
            <a:ext cx="2926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Expert analytics and regional advisory overrides as a subscription.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