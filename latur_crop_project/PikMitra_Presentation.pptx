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572000"/>
            <a:ext cx="2926080" cy="2926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097280" y="4937760"/>
            <a:ext cx="2743200" cy="2743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A7E089"/>
                </a:solidFill>
                <a:latin typeface="Calibri"/>
              </a:rPr>
              <a:t>AI-POWERED CROP ADVISORY FOR MAHARASHTRA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Calibri"/>
              </a:rPr>
              <a:t>पीक मित्र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600" b="1" i="0">
                <a:solidFill>
                  <a:srgbClr val="A7E089"/>
                </a:solidFill>
                <a:latin typeface="Calibri"/>
              </a:rPr>
              <a:t>Crop Mitra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7528" y="3977639"/>
            <a:ext cx="1463040" cy="45720"/>
          </a:xfrm>
          <a:prstGeom prst="rect">
            <a:avLst/>
          </a:prstGeom>
          <a:solidFill>
            <a:srgbClr val="E86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Data-driven crop recommendations for the right land, the right season, and better income.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C9DEB8"/>
                </a:solidFill>
                <a:latin typeface="Calibri"/>
              </a:rPr>
              <a:t>Problem-solving through Data  •  Scoring  •  Mobile-first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Problem Farmers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Why so many farm decisions go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7373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4708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922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Guessing the wrong 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286000"/>
            <a:ext cx="4023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Sowing a crop not suited to local soil, rainfall or temperature lowers yield and income every season.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14630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01968" y="17373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4708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17922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No reliable local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286000"/>
            <a:ext cx="4023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Weather, soil health and market price information is scattered, technical, or hard to access for a village farmer.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58768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4133087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42816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879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Market surprises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681728"/>
            <a:ext cx="4023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Producing without knowing the demand or price — good crops, poor or unprofitable selling.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3858768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01968" y="4133087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242816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418795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Information overload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4681728"/>
            <a:ext cx="4023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General advice on the internet is not tuned to the farmer’s tehsil, season or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Our Solution — Crop Mitra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A mobile-first advisory app built on real district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73152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Know your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Pick your district and tehsil — e.g. Latur → Ausa. Everything is tuned to that area.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554480"/>
            <a:ext cx="73152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556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Smart scoring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1460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Each crop is scored for soil pH, rainfall, temperature and price fit — out of 100.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9476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794760"/>
            <a:ext cx="73152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959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Get ranked advice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See the best crops for your land with suitability %, ranks, and clear Do / Don’t guidance.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79476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794760"/>
            <a:ext cx="73152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9959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🖼️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97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Learn with pictures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75488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A 55-crop bilingual catalog (Marathi + English) with real images, seasons and cost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From location to recommendation in 4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606040" cy="301752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4028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Select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District + Tehsil
(Latur · Ausa)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880360"/>
            <a:ext cx="201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0168" y="1828800"/>
            <a:ext cx="2606040" cy="301752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75988" y="224028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5988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3337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Analyze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38404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Soil, rain, temp,
market prices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201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1828800"/>
            <a:ext cx="2606040" cy="301752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83196" y="224028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3196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3337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Score Crops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38404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54 crops scored
0–100 per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880360"/>
            <a:ext cx="201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 i="0">
                <a:solidFill>
                  <a:srgbClr val="E86A17"/>
                </a:solidFill>
                <a:latin typeface="Calibri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44584" y="1828800"/>
            <a:ext cx="2606040" cy="301752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90404" y="2240280"/>
            <a:ext cx="914400" cy="914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0404" y="24505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337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See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38404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Ranked list with
suitability badges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349240"/>
            <a:ext cx="10515600" cy="640080"/>
          </a:xfrm>
          <a:prstGeom prst="round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44618"/>
                </a:solidFill>
                <a:latin typeface="Calibri"/>
              </a:rPr>
              <a:t>Scores below 60 or rank beyond 20 are marked ‘Not Suitable’ — so farmers never chase the wrong crop.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Scoring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How a 0–100 suitability score is computed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5E20"/>
                </a:solidFill>
                <a:latin typeface="Calibri"/>
              </a:rPr>
              <a:t>SOIL pH &amp;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Healthy soil for the crop = higher base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630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276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5E20"/>
                </a:solidFill>
                <a:latin typeface="Calibri"/>
              </a:rPr>
              <a:t>RAINFALL (mm)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116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Compared with each crop’s ideal rain range.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27632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5E20"/>
                </a:solidFill>
                <a:latin typeface="Calibri"/>
              </a:rPr>
              <a:t>TEMPERATURE (°C)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11680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Seasonal warmth matched to crop comfort zone.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815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4612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5E20"/>
                </a:solidFill>
                <a:latin typeface="Calibri"/>
              </a:rPr>
              <a:t>MARKET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30168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Profitability signal for the final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0815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24612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5E20"/>
                </a:solidFill>
                <a:latin typeface="Calibri"/>
              </a:rPr>
              <a:t>REGION 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630168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Crop history &amp; district-level suitability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81528"/>
            <a:ext cx="3456432" cy="141732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24612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0–100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630168"/>
            <a:ext cx="29992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ECF4DE"/>
                </a:solidFill>
                <a:latin typeface="Calibri"/>
              </a:rPr>
              <a:t>Weighted average → clean %, easy to understand.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09160"/>
            <a:ext cx="10515600" cy="105156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86460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Decision rule:  Suitable  =  Score ≥ 60  AND  Rank ≤ 20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If either condition fails, the crop is flagged ‘Not Suitable’ for that tehsil.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Data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Real data + lightweight modern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578608" cy="17373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200" b="1" i="0">
                <a:solidFill>
                  <a:srgbClr val="A7E089"/>
                </a:solidFill>
                <a:latin typeface="Calibri"/>
              </a:rPr>
              <a:t>362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Regions
(districts + tehsils)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554480"/>
            <a:ext cx="2578608" cy="17373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737360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200" b="1" i="0">
                <a:solidFill>
                  <a:srgbClr val="A7E089"/>
                </a:solidFill>
                <a:latin typeface="Calibri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4688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Crops
(rated &amp; catalogued)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554480"/>
            <a:ext cx="2578608" cy="17373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737360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200" b="1" i="0">
                <a:solidFill>
                  <a:srgbClr val="A7E089"/>
                </a:solidFill>
                <a:latin typeface="Calibri"/>
              </a:rPr>
              <a:t>52,608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688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Daily weather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1554480"/>
            <a:ext cx="2578608" cy="173736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737360"/>
            <a:ext cx="25786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200" b="1" i="0">
                <a:solidFill>
                  <a:srgbClr val="A7E089"/>
                </a:solidFill>
                <a:latin typeface="Calibri"/>
              </a:rPr>
              <a:t>19,548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468880"/>
            <a:ext cx="23042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Crop suitability scores
computed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118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794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Frontend (mobile-first App)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0624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• React single-page app
• Vite dev server &amp; fast builds
• Bilingual UI (Marathi + English)
• Location picker, catalog, price screens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6118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Backend data (scored offline)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• SQLite DB — regions, crops, soil, weather, prices
• Python scripting — data init &amp; scoring pipeline
• Scores pre-computed → instant app, no server 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Designed in the farmer’s language — clear and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🏠  Bilingual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03120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Marathi + English UI with a friendly home screen and easy location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630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2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📊  Suitability % &amp; Ranks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Every crop shows a clear score, position, and Suitable / Not Suitable tag.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4592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🌱  55-Crop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Real photos, growing months, yield and cost info for informed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815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64408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💰  Market Prices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21608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Current price awareness helps the farmer decide what to grow and sell.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0815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264408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🗺️  Tehsil-level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721608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Advice changes with your tehsil — no more one-size-fits-all tips.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815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264408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5E20"/>
                </a:solidFill>
                <a:latin typeface="Calibri"/>
              </a:rPr>
              <a:t>📱  Phone-friendly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21608"/>
            <a:ext cx="2999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 i="0">
                <a:solidFill>
                  <a:srgbClr val="5B635B"/>
                </a:solidFill>
                <a:latin typeface="Calibri"/>
              </a:rPr>
              <a:t>Works beautifully on a small screen — the device every farmer 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Real Example — Latur · 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Top 5 recommended crops on the Ausa advisory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5B635B"/>
                </a:solidFill>
                <a:latin typeface="Calibri"/>
              </a:rPr>
              <a:t>Suitability score (out of 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1F1B"/>
                </a:solidFill>
                <a:latin typeface="Calibri"/>
              </a:rPr>
              <a:t>Tur (Pigeon Pea)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28216"/>
            <a:ext cx="5486400" cy="347472"/>
          </a:xfrm>
          <a:prstGeom prst="roundRect">
            <a:avLst/>
          </a:prstGeom>
          <a:solidFill>
            <a:srgbClr val="E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728216"/>
            <a:ext cx="5266944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169164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1F1B"/>
                </a:solidFill>
                <a:latin typeface="Calibri"/>
              </a:rPr>
              <a:t>Soybean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95144"/>
            <a:ext cx="5486400" cy="347472"/>
          </a:xfrm>
          <a:prstGeom prst="roundRect">
            <a:avLst/>
          </a:prstGeom>
          <a:solidFill>
            <a:srgbClr val="E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295144"/>
            <a:ext cx="5266944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258568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96%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25496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1F1B"/>
                </a:solidFill>
                <a:latin typeface="Calibri"/>
              </a:rPr>
              <a:t>Cotton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862072"/>
            <a:ext cx="5486400" cy="347472"/>
          </a:xfrm>
          <a:prstGeom prst="roundRect">
            <a:avLst/>
          </a:prstGeom>
          <a:solidFill>
            <a:srgbClr val="E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2862072"/>
            <a:ext cx="5266944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2825496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92424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1F1B"/>
                </a:solidFill>
                <a:latin typeface="Calibri"/>
              </a:rPr>
              <a:t>Maize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429000"/>
            <a:ext cx="5486400" cy="347472"/>
          </a:xfrm>
          <a:prstGeom prst="roundRect">
            <a:avLst/>
          </a:prstGeom>
          <a:solidFill>
            <a:srgbClr val="E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3429000"/>
            <a:ext cx="5266944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339242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96%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59352"/>
            <a:ext cx="3291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1F1B"/>
                </a:solidFill>
                <a:latin typeface="Calibri"/>
              </a:rPr>
              <a:t>Jowar (Sorghum)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995928"/>
            <a:ext cx="5486400" cy="347472"/>
          </a:xfrm>
          <a:prstGeom prst="roundRect">
            <a:avLst/>
          </a:prstGeom>
          <a:solidFill>
            <a:srgbClr val="ED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3995928"/>
            <a:ext cx="5212080" cy="347472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3959352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B5E20"/>
                </a:solidFill>
                <a:latin typeface="Calibri"/>
              </a:rPr>
              <a:t>95%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617720"/>
            <a:ext cx="10515600" cy="1143000"/>
          </a:xfrm>
          <a:prstGeom prst="roundRect">
            <a:avLst/>
          </a:prstGeom>
          <a:solidFill>
            <a:srgbClr val="F4FAF0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5E20"/>
                </a:solidFill>
                <a:latin typeface="Calibri"/>
              </a:rPr>
              <a:t>Example checks: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35B"/>
                </a:solidFill>
                <a:latin typeface="Calibri"/>
              </a:rPr>
              <a:t>Mango (88%)  →  rank 14, Suitable.   Rice (82%) → rank 29, beyond rank 20, flagged Not Suitable for Ausa.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Same crop, different tehsil → different answer. Advice is truly location-specific.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What Crop Mitra helps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Better crop choices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14600"/>
            <a:ext cx="475488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Matches crop to local soil, rain and temperature — fewer crop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55448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55448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7556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057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Higher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514600"/>
            <a:ext cx="475488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Growing what the land and market favour improves yield and returns.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13632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913632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165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Informed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73752"/>
            <a:ext cx="475488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Clear scores and ranks replace guesswork with confidence.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3913632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3913632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114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Calibri"/>
              </a:rPr>
              <a:t>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4165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B5E20"/>
                </a:solidFill>
                <a:latin typeface="Calibri"/>
              </a:rPr>
              <a:t>Sustainable farming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873752"/>
            <a:ext cx="475488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 i="0">
                <a:solidFill>
                  <a:srgbClr val="5B635B"/>
                </a:solidFill>
                <a:latin typeface="Calibri"/>
              </a:rPr>
              <a:t>Right crop on right land keeps soil healthy for the long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9601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7E089"/>
                </a:solidFill>
                <a:latin typeface="Calibri"/>
              </a:rPr>
              <a:t>Where Crop Mitra can 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पीक मित्र  |  Crop Mitra  |  AI Crop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5B635B"/>
                </a:solidFill>
                <a:latin typeface="Calibri"/>
              </a:rPr>
              <a:t>Slide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3456432" cy="128016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2999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44618"/>
                </a:solidFill>
                <a:latin typeface="Calibri"/>
              </a:rPr>
              <a:t>✔  Live weather &amp; rainfall forecasts wired into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456432" cy="128016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2999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44618"/>
                </a:solidFill>
                <a:latin typeface="Calibri"/>
              </a:rPr>
              <a:t>✔  Real-time market price APIs for up-to-the-day advice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456432" cy="128016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65960"/>
            <a:ext cx="2999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44618"/>
                </a:solidFill>
                <a:latin typeface="Calibri"/>
              </a:rPr>
              <a:t>✔  More crops + regional languages (Hindi, Kannada)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90087"/>
            <a:ext cx="3456432" cy="128016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47287"/>
            <a:ext cx="2999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44618"/>
                </a:solidFill>
                <a:latin typeface="Calibri"/>
              </a:rPr>
              <a:t>✔  Voice input for elder farmers (Marathi speech)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990087"/>
            <a:ext cx="3456432" cy="128016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447287"/>
            <a:ext cx="2999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44618"/>
                </a:solidFill>
                <a:latin typeface="Calibri"/>
              </a:rPr>
              <a:t>✔  Crop switches &amp; rotation suggestions for soil health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990087"/>
            <a:ext cx="3456432" cy="1280160"/>
          </a:xfrm>
          <a:prstGeom prst="roundRect">
            <a:avLst/>
          </a:prstGeom>
          <a:solidFill>
            <a:srgbClr val="EDF5E8"/>
          </a:solidFill>
          <a:ln w="12700">
            <a:solidFill>
              <a:srgbClr val="DD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447287"/>
            <a:ext cx="29992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 i="0">
                <a:solidFill>
                  <a:srgbClr val="244618"/>
                </a:solidFill>
                <a:latin typeface="Calibri"/>
              </a:rPr>
              <a:t>✔  Offline mode + farmer support helpline in the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937760"/>
            <a:ext cx="2743200" cy="2743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E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धन्यवाद —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700" b="1" i="0">
                <a:solidFill>
                  <a:srgbClr val="A7E089"/>
                </a:solidFill>
                <a:latin typeface="Calibri"/>
              </a:rPr>
              <a:t>पीक मित्र — SMARTER FARMING, BETTER LIVELIHOOD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